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5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2CE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7" d="100"/>
          <a:sy n="77" d="100"/>
        </p:scale>
        <p:origin x="18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7/12/2026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7/12/2026</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7/12/2026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E96C8-E79B-ECC1-159B-1775D83880F8}"/>
              </a:ext>
            </a:extLst>
          </p:cNvPr>
          <p:cNvSpPr>
            <a:spLocks noGrp="1"/>
          </p:cNvSpPr>
          <p:nvPr>
            <p:ph type="ctrTitle"/>
          </p:nvPr>
        </p:nvSpPr>
        <p:spPr>
          <a:xfrm>
            <a:off x="1582482" y="254524"/>
            <a:ext cx="7766936" cy="970961"/>
          </a:xfrm>
        </p:spPr>
        <p:txBody>
          <a:bodyPr/>
          <a:lstStyle/>
          <a:p>
            <a:pPr algn="ctr"/>
            <a:br>
              <a:rPr lang="en-US" sz="2800" dirty="0">
                <a:solidFill>
                  <a:schemeClr val="accent2">
                    <a:lumMod val="75000"/>
                  </a:schemeClr>
                </a:solidFill>
                <a:latin typeface="Times New Roman" panose="02020603050405020304" pitchFamily="18" charset="0"/>
                <a:cs typeface="Times New Roman" panose="02020603050405020304" pitchFamily="18" charset="0"/>
              </a:rPr>
            </a:br>
            <a:br>
              <a:rPr lang="en-US" sz="2800" dirty="0">
                <a:solidFill>
                  <a:schemeClr val="accent2">
                    <a:lumMod val="75000"/>
                  </a:schemeClr>
                </a:solidFill>
                <a:latin typeface="Times New Roman" panose="02020603050405020304" pitchFamily="18" charset="0"/>
                <a:cs typeface="Times New Roman" panose="02020603050405020304" pitchFamily="18" charset="0"/>
              </a:rPr>
            </a:br>
            <a:br>
              <a:rPr lang="en-US" sz="2800" dirty="0">
                <a:solidFill>
                  <a:schemeClr val="accent2">
                    <a:lumMod val="75000"/>
                  </a:schemeClr>
                </a:solidFill>
                <a:latin typeface="Times New Roman" panose="02020603050405020304" pitchFamily="18" charset="0"/>
                <a:cs typeface="Times New Roman" panose="02020603050405020304" pitchFamily="18" charset="0"/>
              </a:rPr>
            </a:br>
            <a:br>
              <a:rPr lang="en-US" sz="2800" dirty="0">
                <a:solidFill>
                  <a:schemeClr val="accent2">
                    <a:lumMod val="75000"/>
                  </a:schemeClr>
                </a:solidFill>
                <a:latin typeface="Times New Roman" panose="02020603050405020304" pitchFamily="18" charset="0"/>
                <a:cs typeface="Times New Roman" panose="02020603050405020304" pitchFamily="18" charset="0"/>
              </a:rPr>
            </a:br>
            <a:br>
              <a:rPr lang="en-US" sz="2800" dirty="0">
                <a:solidFill>
                  <a:schemeClr val="accent2">
                    <a:lumMod val="75000"/>
                  </a:schemeClr>
                </a:solidFill>
                <a:latin typeface="Times New Roman" panose="02020603050405020304" pitchFamily="18" charset="0"/>
                <a:cs typeface="Times New Roman" panose="02020603050405020304" pitchFamily="18" charset="0"/>
              </a:rPr>
            </a:br>
            <a:r>
              <a:rPr lang="en-US" sz="2800" dirty="0">
                <a:solidFill>
                  <a:schemeClr val="accent2">
                    <a:lumMod val="75000"/>
                  </a:schemeClr>
                </a:solidFill>
                <a:latin typeface="Times New Roman" panose="02020603050405020304" pitchFamily="18" charset="0"/>
                <a:cs typeface="Times New Roman" panose="02020603050405020304" pitchFamily="18" charset="0"/>
              </a:rPr>
              <a:t>Green Skilling and Sustainability</a:t>
            </a:r>
            <a:br>
              <a:rPr lang="en-US" sz="2800" dirty="0">
                <a:solidFill>
                  <a:schemeClr val="accent2">
                    <a:lumMod val="75000"/>
                  </a:schemeClr>
                </a:solidFill>
                <a:latin typeface="Times New Roman" panose="02020603050405020304" pitchFamily="18" charset="0"/>
                <a:cs typeface="Times New Roman" panose="02020603050405020304" pitchFamily="18" charset="0"/>
              </a:rPr>
            </a:br>
            <a:endParaRPr lang="en-IN" sz="28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BDD60F7-8840-F701-6BB1-64C9A817C482}"/>
              </a:ext>
            </a:extLst>
          </p:cNvPr>
          <p:cNvSpPr txBox="1"/>
          <p:nvPr/>
        </p:nvSpPr>
        <p:spPr>
          <a:xfrm>
            <a:off x="942680" y="1225485"/>
            <a:ext cx="8406738" cy="3539430"/>
          </a:xfrm>
          <a:prstGeom prst="rect">
            <a:avLst/>
          </a:prstGeom>
          <a:noFill/>
        </p:spPr>
        <p:txBody>
          <a:bodyPr wrap="square" rtlCol="0">
            <a:spAutoFit/>
          </a:bodyPr>
          <a:lstStyle/>
          <a:p>
            <a:r>
              <a:rPr lang="en-US" dirty="0"/>
              <a:t>   </a:t>
            </a:r>
            <a:r>
              <a:rPr lang="en-US" sz="2800" dirty="0">
                <a:solidFill>
                  <a:schemeClr val="accent2">
                    <a:lumMod val="50000"/>
                  </a:schemeClr>
                </a:solidFill>
              </a:rPr>
              <a:t>NAME :- </a:t>
            </a:r>
            <a:r>
              <a:rPr lang="en-US" sz="2800" dirty="0">
                <a:solidFill>
                  <a:schemeClr val="accent1">
                    <a:lumMod val="75000"/>
                  </a:schemeClr>
                </a:solidFill>
              </a:rPr>
              <a:t>Jain Divyani Abhay</a:t>
            </a:r>
          </a:p>
          <a:p>
            <a:endParaRPr lang="en-US" sz="2800" dirty="0"/>
          </a:p>
          <a:p>
            <a:r>
              <a:rPr lang="en-US" sz="2800" dirty="0"/>
              <a:t>  </a:t>
            </a:r>
            <a:r>
              <a:rPr lang="en-US" sz="2800" dirty="0">
                <a:solidFill>
                  <a:schemeClr val="accent2">
                    <a:lumMod val="50000"/>
                  </a:schemeClr>
                </a:solidFill>
              </a:rPr>
              <a:t>Enrollment No. :- </a:t>
            </a:r>
            <a:r>
              <a:rPr lang="en-US" sz="2800" dirty="0">
                <a:solidFill>
                  <a:schemeClr val="accent1">
                    <a:lumMod val="75000"/>
                  </a:schemeClr>
                </a:solidFill>
              </a:rPr>
              <a:t>230760107044</a:t>
            </a:r>
          </a:p>
          <a:p>
            <a:endParaRPr lang="en-US" sz="2800" dirty="0"/>
          </a:p>
          <a:p>
            <a:r>
              <a:rPr lang="en-US" sz="2800" dirty="0"/>
              <a:t>  </a:t>
            </a:r>
            <a:r>
              <a:rPr lang="en-US" sz="2800" dirty="0">
                <a:solidFill>
                  <a:schemeClr val="accent2">
                    <a:lumMod val="50000"/>
                  </a:schemeClr>
                </a:solidFill>
              </a:rPr>
              <a:t>Stream :- </a:t>
            </a:r>
            <a:r>
              <a:rPr lang="en-US" sz="2800" dirty="0">
                <a:solidFill>
                  <a:schemeClr val="accent1">
                    <a:lumMod val="75000"/>
                  </a:schemeClr>
                </a:solidFill>
              </a:rPr>
              <a:t>Computer Engineering </a:t>
            </a:r>
          </a:p>
          <a:p>
            <a:endParaRPr lang="en-US" sz="2800" dirty="0"/>
          </a:p>
          <a:p>
            <a:r>
              <a:rPr lang="en-US" sz="2800" dirty="0"/>
              <a:t>  </a:t>
            </a:r>
            <a:r>
              <a:rPr lang="en-US" sz="2800" dirty="0">
                <a:solidFill>
                  <a:schemeClr val="accent2">
                    <a:lumMod val="50000"/>
                  </a:schemeClr>
                </a:solidFill>
              </a:rPr>
              <a:t>College :- </a:t>
            </a:r>
            <a:r>
              <a:rPr lang="en-US" sz="2800" dirty="0">
                <a:solidFill>
                  <a:schemeClr val="accent1">
                    <a:lumMod val="75000"/>
                  </a:schemeClr>
                </a:solidFill>
              </a:rPr>
              <a:t>Shree Swami Atmanand Saraswati   </a:t>
            </a:r>
          </a:p>
          <a:p>
            <a:r>
              <a:rPr lang="en-US" sz="2800" dirty="0">
                <a:solidFill>
                  <a:schemeClr val="accent1">
                    <a:lumMod val="75000"/>
                  </a:schemeClr>
                </a:solidFill>
              </a:rPr>
              <a:t>                 Institute of Technology (SSASIT)</a:t>
            </a:r>
            <a:endParaRPr lang="en-IN" sz="2800" dirty="0">
              <a:solidFill>
                <a:schemeClr val="accent1">
                  <a:lumMod val="75000"/>
                </a:schemeClr>
              </a:solidFill>
            </a:endParaRPr>
          </a:p>
        </p:txBody>
      </p:sp>
    </p:spTree>
    <p:extLst>
      <p:ext uri="{BB962C8B-B14F-4D97-AF65-F5344CB8AC3E}">
        <p14:creationId xmlns:p14="http://schemas.microsoft.com/office/powerpoint/2010/main" val="18762423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92C99-96F3-E75D-D3D3-5896BAE5ECF1}"/>
              </a:ext>
            </a:extLst>
          </p:cNvPr>
          <p:cNvSpPr>
            <a:spLocks noGrp="1"/>
          </p:cNvSpPr>
          <p:nvPr>
            <p:ph type="title"/>
          </p:nvPr>
        </p:nvSpPr>
        <p:spPr>
          <a:xfrm>
            <a:off x="418917" y="440634"/>
            <a:ext cx="8596668" cy="513522"/>
          </a:xfrm>
        </p:spPr>
        <p:txBody>
          <a:bodyPr>
            <a:noAutofit/>
          </a:bodyPr>
          <a:lstStyle/>
          <a:p>
            <a:pPr marL="342900" indent="-342900">
              <a:buFont typeface="Arial" panose="020B0604020202020204" pitchFamily="34" charset="0"/>
              <a:buChar char="•"/>
            </a:pPr>
            <a:r>
              <a:rPr lang="en-US" sz="2400" dirty="0">
                <a:solidFill>
                  <a:schemeClr val="accent2">
                    <a:lumMod val="50000"/>
                  </a:schemeClr>
                </a:solidFill>
                <a:latin typeface="Times New Roman" panose="02020603050405020304" pitchFamily="18" charset="0"/>
                <a:cs typeface="Times New Roman" panose="02020603050405020304" pitchFamily="18" charset="0"/>
              </a:rPr>
              <a:t>What is SDG 17 – Partnerships for the Goals ?</a:t>
            </a:r>
            <a:br>
              <a:rPr lang="en-US" sz="2400" dirty="0">
                <a:solidFill>
                  <a:schemeClr val="accent2">
                    <a:lumMod val="50000"/>
                  </a:schemeClr>
                </a:solidFill>
                <a:latin typeface="Times New Roman" panose="02020603050405020304" pitchFamily="18" charset="0"/>
                <a:cs typeface="Times New Roman" panose="02020603050405020304" pitchFamily="18" charset="0"/>
              </a:rPr>
            </a:br>
            <a:br>
              <a:rPr lang="en-US" sz="2400" dirty="0">
                <a:solidFill>
                  <a:schemeClr val="accent2">
                    <a:lumMod val="50000"/>
                  </a:schemeClr>
                </a:solidFill>
                <a:latin typeface="Times New Roman" panose="02020603050405020304" pitchFamily="18" charset="0"/>
                <a:cs typeface="Times New Roman" panose="02020603050405020304" pitchFamily="18" charset="0"/>
              </a:rPr>
            </a:br>
            <a:endParaRPr lang="en-IN" sz="24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26705EDC-06C5-6310-3EA0-17E5813EDAB9}"/>
              </a:ext>
            </a:extLst>
          </p:cNvPr>
          <p:cNvSpPr txBox="1"/>
          <p:nvPr/>
        </p:nvSpPr>
        <p:spPr>
          <a:xfrm>
            <a:off x="776726" y="954156"/>
            <a:ext cx="8725083" cy="1938992"/>
          </a:xfrm>
          <a:prstGeom prst="rect">
            <a:avLst/>
          </a:prstGeom>
          <a:noFill/>
        </p:spPr>
        <p:txBody>
          <a:bodyPr wrap="square" rtlCol="0">
            <a:spAutoFit/>
          </a:bodyPr>
          <a:lstStyle/>
          <a:p>
            <a:pPr algn="just"/>
            <a:r>
              <a:rPr lang="en-US" sz="2000" dirty="0">
                <a:solidFill>
                  <a:schemeClr val="accent2">
                    <a:lumMod val="75000"/>
                  </a:schemeClr>
                </a:solidFill>
                <a:latin typeface="Times New Roman" panose="02020603050405020304" pitchFamily="18" charset="0"/>
                <a:cs typeface="Times New Roman" panose="02020603050405020304" pitchFamily="18" charset="0"/>
              </a:rPr>
              <a:t>SDG 17 Goals is the </a:t>
            </a:r>
            <a:r>
              <a:rPr lang="en-US" sz="2000" b="1" dirty="0">
                <a:solidFill>
                  <a:schemeClr val="accent2">
                    <a:lumMod val="75000"/>
                  </a:schemeClr>
                </a:solidFill>
                <a:latin typeface="Times New Roman" panose="02020603050405020304" pitchFamily="18" charset="0"/>
                <a:cs typeface="Times New Roman" panose="02020603050405020304" pitchFamily="18" charset="0"/>
              </a:rPr>
              <a:t>17 Sustainable Development Goal </a:t>
            </a:r>
            <a:r>
              <a:rPr lang="en-US" sz="2000" dirty="0">
                <a:solidFill>
                  <a:schemeClr val="accent2">
                    <a:lumMod val="75000"/>
                  </a:schemeClr>
                </a:solidFill>
                <a:latin typeface="Times New Roman" panose="02020603050405020304" pitchFamily="18" charset="0"/>
                <a:cs typeface="Times New Roman" panose="02020603050405020304" pitchFamily="18" charset="0"/>
              </a:rPr>
              <a:t>established by the United Nations. Its main objective is to strengthen global partnerships so that all 17 SDGs can be achieved. It means that governments, businesses, schools, NGOs, and people from different countries work together by sharing knowledge, technology, resources and finance to solve global problems such as poverty, climate change, health, and education.</a:t>
            </a:r>
            <a:endParaRPr lang="en-IN" sz="2000" dirty="0">
              <a:solidFill>
                <a:schemeClr val="accent2">
                  <a:lumMod val="75000"/>
                </a:schemeClr>
              </a:solidFill>
            </a:endParaRPr>
          </a:p>
        </p:txBody>
      </p:sp>
      <p:sp>
        <p:nvSpPr>
          <p:cNvPr id="5" name="TextBox 4">
            <a:extLst>
              <a:ext uri="{FF2B5EF4-FFF2-40B4-BE49-F238E27FC236}">
                <a16:creationId xmlns:a16="http://schemas.microsoft.com/office/drawing/2014/main" id="{0B7131EE-6EF8-DF10-6550-029992CF118E}"/>
              </a:ext>
            </a:extLst>
          </p:cNvPr>
          <p:cNvSpPr txBox="1"/>
          <p:nvPr/>
        </p:nvSpPr>
        <p:spPr>
          <a:xfrm>
            <a:off x="418916" y="3095247"/>
            <a:ext cx="6806831" cy="461665"/>
          </a:xfrm>
          <a:prstGeom prst="rect">
            <a:avLst/>
          </a:prstGeom>
          <a:noFill/>
        </p:spPr>
        <p:txBody>
          <a:bodyPr wrap="square" rtlCol="0">
            <a:spAutoFit/>
          </a:bodyPr>
          <a:lstStyle/>
          <a:p>
            <a:pPr marL="285750" indent="-285750">
              <a:buFont typeface="Arial" panose="020B0604020202020204" pitchFamily="34" charset="0"/>
              <a:buChar char="•"/>
            </a:pPr>
            <a:r>
              <a:rPr lang="en-US" sz="2400" dirty="0">
                <a:solidFill>
                  <a:schemeClr val="accent2">
                    <a:lumMod val="50000"/>
                  </a:schemeClr>
                </a:solidFill>
              </a:rPr>
              <a:t>What is Green Skilling ?</a:t>
            </a:r>
            <a:endParaRPr lang="en-IN" sz="2400" dirty="0">
              <a:solidFill>
                <a:schemeClr val="accent2">
                  <a:lumMod val="50000"/>
                </a:schemeClr>
              </a:solidFill>
            </a:endParaRPr>
          </a:p>
        </p:txBody>
      </p:sp>
      <p:sp>
        <p:nvSpPr>
          <p:cNvPr id="6" name="TextBox 5">
            <a:extLst>
              <a:ext uri="{FF2B5EF4-FFF2-40B4-BE49-F238E27FC236}">
                <a16:creationId xmlns:a16="http://schemas.microsoft.com/office/drawing/2014/main" id="{CDA63500-843E-174C-CE2D-AC8FD0FCA13E}"/>
              </a:ext>
            </a:extLst>
          </p:cNvPr>
          <p:cNvSpPr txBox="1"/>
          <p:nvPr/>
        </p:nvSpPr>
        <p:spPr>
          <a:xfrm>
            <a:off x="776726" y="3759011"/>
            <a:ext cx="8725083" cy="2831544"/>
          </a:xfrm>
          <a:prstGeom prst="rect">
            <a:avLst/>
          </a:prstGeom>
          <a:noFill/>
        </p:spPr>
        <p:txBody>
          <a:bodyPr wrap="square" rtlCol="0">
            <a:spAutoFit/>
          </a:bodyPr>
          <a:lstStyle/>
          <a:p>
            <a:pPr algn="just"/>
            <a:r>
              <a:rPr lang="en-US" sz="2000" dirty="0">
                <a:solidFill>
                  <a:schemeClr val="accent2">
                    <a:lumMod val="75000"/>
                  </a:schemeClr>
                </a:solidFill>
              </a:rPr>
              <a:t>Green Skilling is the process of developing knowledge and skills that help to protect the environment and promote sustainable development. It prepares people for eco-Friendly jobs and encourages the efficient use of natural resources. It includes learning practices such as renewable energy, waste management, water conservation, and organic farming. It helps reduce pollution and supports a greener economy. By developing green skills, individuals can contribute to a cleaner, healthier, and more sustainable future.</a:t>
            </a:r>
          </a:p>
          <a:p>
            <a:endParaRPr lang="en-IN" dirty="0">
              <a:solidFill>
                <a:schemeClr val="accent2">
                  <a:lumMod val="75000"/>
                </a:schemeClr>
              </a:solidFill>
            </a:endParaRPr>
          </a:p>
        </p:txBody>
      </p:sp>
    </p:spTree>
    <p:extLst>
      <p:ext uri="{BB962C8B-B14F-4D97-AF65-F5344CB8AC3E}">
        <p14:creationId xmlns:p14="http://schemas.microsoft.com/office/powerpoint/2010/main" val="2225637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0F840-61ED-3D1F-8163-A89906D35301}"/>
              </a:ext>
            </a:extLst>
          </p:cNvPr>
          <p:cNvSpPr>
            <a:spLocks noGrp="1"/>
          </p:cNvSpPr>
          <p:nvPr>
            <p:ph type="title"/>
          </p:nvPr>
        </p:nvSpPr>
        <p:spPr>
          <a:xfrm>
            <a:off x="677334" y="609600"/>
            <a:ext cx="8596668" cy="533400"/>
          </a:xfrm>
        </p:spPr>
        <p:txBody>
          <a:bodyPr>
            <a:normAutofit/>
          </a:bodyPr>
          <a:lstStyle/>
          <a:p>
            <a:pPr marL="342900" indent="-342900">
              <a:buFont typeface="Arial" panose="020B0604020202020204" pitchFamily="34" charset="0"/>
              <a:buChar char="•"/>
            </a:pPr>
            <a:r>
              <a:rPr lang="en-US" sz="2400" dirty="0">
                <a:solidFill>
                  <a:schemeClr val="accent2">
                    <a:lumMod val="50000"/>
                  </a:schemeClr>
                </a:solidFill>
                <a:latin typeface="Times New Roman" panose="02020603050405020304" pitchFamily="18" charset="0"/>
                <a:cs typeface="Times New Roman" panose="02020603050405020304" pitchFamily="18" charset="0"/>
              </a:rPr>
              <a:t>What is Sustainability ?</a:t>
            </a:r>
            <a:endParaRPr lang="en-IN" sz="24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7F16337-D28A-DE0C-1DD4-3ECAFB3BDD96}"/>
              </a:ext>
            </a:extLst>
          </p:cNvPr>
          <p:cNvSpPr txBox="1"/>
          <p:nvPr/>
        </p:nvSpPr>
        <p:spPr>
          <a:xfrm>
            <a:off x="1003853" y="1005509"/>
            <a:ext cx="8270149" cy="2246769"/>
          </a:xfrm>
          <a:prstGeom prst="rect">
            <a:avLst/>
          </a:prstGeom>
          <a:noFill/>
        </p:spPr>
        <p:txBody>
          <a:bodyPr wrap="square" rtlCol="0">
            <a:spAutoFit/>
          </a:bodyPr>
          <a:lstStyle/>
          <a:p>
            <a:pPr algn="just"/>
            <a:r>
              <a:rPr lang="en-US" sz="2000" dirty="0">
                <a:solidFill>
                  <a:schemeClr val="accent2">
                    <a:lumMod val="75000"/>
                  </a:schemeClr>
                </a:solidFill>
                <a:latin typeface="Times New Roman" panose="02020603050405020304" pitchFamily="18" charset="0"/>
                <a:cs typeface="Times New Roman" panose="02020603050405020304" pitchFamily="18" charset="0"/>
              </a:rPr>
              <a:t>Sustainability means using natural resources wisely so that they are available for future generations while meeting the needs of the present. It focuses on protecting the environment, supporting economic growth, and improving social well-being. Sustainable practices help reduce pollution, conserve resources, and maintain ecological balance. It encourages responsible use of energy, water, and other resources. Sustainability ensures a healthy planet and a better quality of life for both present and future generations.</a:t>
            </a:r>
            <a:endParaRPr lang="en-IN" sz="2000"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96B35BF7-F101-5418-AB74-6B44B7550478}"/>
              </a:ext>
            </a:extLst>
          </p:cNvPr>
          <p:cNvSpPr txBox="1"/>
          <p:nvPr/>
        </p:nvSpPr>
        <p:spPr>
          <a:xfrm>
            <a:off x="677333" y="3463521"/>
            <a:ext cx="7065249" cy="461665"/>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accent2">
                    <a:lumMod val="50000"/>
                  </a:schemeClr>
                </a:solidFill>
                <a:latin typeface="Times New Roman" panose="02020603050405020304" pitchFamily="18" charset="0"/>
                <a:cs typeface="Times New Roman" panose="02020603050405020304" pitchFamily="18" charset="0"/>
              </a:rPr>
              <a:t>Is AI Good or Bad for Sustainability ?</a:t>
            </a:r>
            <a:endParaRPr lang="en-IN" sz="2400" dirty="0">
              <a:solidFill>
                <a:schemeClr val="accent2">
                  <a:lumMod val="50000"/>
                </a:schemeClr>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22EC14A-0CE6-353C-FA86-68C1AAD13D73}"/>
              </a:ext>
            </a:extLst>
          </p:cNvPr>
          <p:cNvSpPr txBox="1"/>
          <p:nvPr/>
        </p:nvSpPr>
        <p:spPr>
          <a:xfrm>
            <a:off x="1003853" y="3925186"/>
            <a:ext cx="8388626" cy="2246769"/>
          </a:xfrm>
          <a:prstGeom prst="rect">
            <a:avLst/>
          </a:prstGeom>
          <a:noFill/>
        </p:spPr>
        <p:txBody>
          <a:bodyPr wrap="square" rtlCol="0">
            <a:spAutoFit/>
          </a:bodyPr>
          <a:lstStyle/>
          <a:p>
            <a:pPr algn="just"/>
            <a:r>
              <a:rPr lang="en-US" sz="2000" dirty="0">
                <a:solidFill>
                  <a:schemeClr val="accent2">
                    <a:lumMod val="75000"/>
                  </a:schemeClr>
                </a:solidFill>
                <a:latin typeface="Times New Roman" panose="02020603050405020304" pitchFamily="18" charset="0"/>
                <a:cs typeface="Times New Roman" panose="02020603050405020304" pitchFamily="18" charset="0"/>
              </a:rPr>
              <a:t>AI can support sustainability by improving energy efficiency, reducing waste, and helping monitor climate change. It is used in smart farming, renewable energy management, and pollution control. </a:t>
            </a:r>
          </a:p>
          <a:p>
            <a:pPr algn="just"/>
            <a:r>
              <a:rPr lang="en-US" sz="2000" dirty="0">
                <a:solidFill>
                  <a:schemeClr val="accent2">
                    <a:lumMod val="75000"/>
                  </a:schemeClr>
                </a:solidFill>
                <a:latin typeface="Times New Roman" panose="02020603050405020304" pitchFamily="18" charset="0"/>
                <a:cs typeface="Times New Roman" panose="02020603050405020304" pitchFamily="18" charset="0"/>
              </a:rPr>
              <a:t>However, AI systems also require large amounts of electricity and powerful computers, which can increase carbon emissions if powered by fossil fuels. Therefore, AI should be developed and used responsibly . When used wisely, AI can play an important role in achieving sustainability goals.</a:t>
            </a:r>
            <a:endParaRPr lang="en-IN" sz="2000"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3617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DB74DD50-E6F3-47EA-2346-7A97C54E0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609" y="343523"/>
            <a:ext cx="4629151" cy="277736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12B6BE9-93B3-EBFA-63AA-04994D22FBEB}"/>
              </a:ext>
            </a:extLst>
          </p:cNvPr>
          <p:cNvPicPr>
            <a:picLocks noChangeAspect="1"/>
          </p:cNvPicPr>
          <p:nvPr/>
        </p:nvPicPr>
        <p:blipFill>
          <a:blip r:embed="rId3"/>
          <a:stretch>
            <a:fillRect/>
          </a:stretch>
        </p:blipFill>
        <p:spPr>
          <a:xfrm>
            <a:off x="5101258" y="3329609"/>
            <a:ext cx="4629150" cy="2966208"/>
          </a:xfrm>
          <a:prstGeom prst="rect">
            <a:avLst/>
          </a:prstGeom>
        </p:spPr>
      </p:pic>
      <p:pic>
        <p:nvPicPr>
          <p:cNvPr id="7" name="Picture 6">
            <a:extLst>
              <a:ext uri="{FF2B5EF4-FFF2-40B4-BE49-F238E27FC236}">
                <a16:creationId xmlns:a16="http://schemas.microsoft.com/office/drawing/2014/main" id="{49AC9A91-DB0D-D85D-88F5-55D0D6B2A31B}"/>
              </a:ext>
            </a:extLst>
          </p:cNvPr>
          <p:cNvPicPr>
            <a:picLocks noChangeAspect="1"/>
          </p:cNvPicPr>
          <p:nvPr/>
        </p:nvPicPr>
        <p:blipFill>
          <a:blip r:embed="rId4"/>
          <a:stretch>
            <a:fillRect/>
          </a:stretch>
        </p:blipFill>
        <p:spPr>
          <a:xfrm>
            <a:off x="5101257" y="343523"/>
            <a:ext cx="4629151" cy="2777364"/>
          </a:xfrm>
          <a:prstGeom prst="rect">
            <a:avLst/>
          </a:prstGeom>
        </p:spPr>
      </p:pic>
      <p:pic>
        <p:nvPicPr>
          <p:cNvPr id="1032" name="Picture 8">
            <a:extLst>
              <a:ext uri="{FF2B5EF4-FFF2-40B4-BE49-F238E27FC236}">
                <a16:creationId xmlns:a16="http://schemas.microsoft.com/office/drawing/2014/main" id="{ADF6222D-A14B-345A-4B3D-ACFD8E32F4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435" y="3329609"/>
            <a:ext cx="4546325" cy="3051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7884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E0D4B-79F6-CA6B-0119-3B11D7A19EA0}"/>
              </a:ext>
            </a:extLst>
          </p:cNvPr>
          <p:cNvSpPr>
            <a:spLocks noGrp="1"/>
          </p:cNvSpPr>
          <p:nvPr>
            <p:ph type="title"/>
          </p:nvPr>
        </p:nvSpPr>
        <p:spPr/>
        <p:txBody>
          <a:bodyPr>
            <a:normAutofit/>
          </a:bodyPr>
          <a:lstStyle/>
          <a:p>
            <a:r>
              <a:rPr lang="en-US" sz="2400" dirty="0">
                <a:solidFill>
                  <a:schemeClr val="accent2">
                    <a:lumMod val="50000"/>
                  </a:schemeClr>
                </a:solidFill>
                <a:latin typeface="Times New Roman" panose="02020603050405020304" pitchFamily="18" charset="0"/>
                <a:cs typeface="Times New Roman" panose="02020603050405020304" pitchFamily="18" charset="0"/>
              </a:rPr>
              <a:t>Capstone Project :- </a:t>
            </a:r>
            <a:r>
              <a:rPr lang="en-US" sz="2400" dirty="0">
                <a:solidFill>
                  <a:schemeClr val="accent1">
                    <a:lumMod val="75000"/>
                  </a:schemeClr>
                </a:solidFill>
                <a:latin typeface="Times New Roman" panose="02020603050405020304" pitchFamily="18" charset="0"/>
                <a:cs typeface="Times New Roman" panose="02020603050405020304" pitchFamily="18" charset="0"/>
              </a:rPr>
              <a:t>AI Garbage Detection from images</a:t>
            </a:r>
            <a:br>
              <a:rPr lang="en-US" sz="2400" dirty="0">
                <a:solidFill>
                  <a:schemeClr val="accent1">
                    <a:lumMod val="75000"/>
                  </a:schemeClr>
                </a:solidFill>
                <a:latin typeface="Times New Roman" panose="02020603050405020304" pitchFamily="18" charset="0"/>
                <a:cs typeface="Times New Roman" panose="02020603050405020304" pitchFamily="18" charset="0"/>
              </a:rPr>
            </a:br>
            <a:br>
              <a:rPr lang="en-US" sz="2400" dirty="0">
                <a:solidFill>
                  <a:schemeClr val="accent1">
                    <a:lumMod val="75000"/>
                  </a:schemeClr>
                </a:solidFill>
                <a:latin typeface="Times New Roman" panose="02020603050405020304" pitchFamily="18" charset="0"/>
                <a:cs typeface="Times New Roman" panose="02020603050405020304" pitchFamily="18" charset="0"/>
              </a:rPr>
            </a:br>
            <a:r>
              <a:rPr lang="en-US" sz="2400" dirty="0">
                <a:solidFill>
                  <a:schemeClr val="accent1">
                    <a:lumMod val="75000"/>
                  </a:schemeClr>
                </a:solidFill>
                <a:latin typeface="Times New Roman" panose="02020603050405020304" pitchFamily="18" charset="0"/>
                <a:cs typeface="Times New Roman" panose="02020603050405020304" pitchFamily="18" charset="0"/>
              </a:rPr>
              <a:t> </a:t>
            </a:r>
            <a:r>
              <a:rPr lang="en-US" sz="2000" dirty="0">
                <a:solidFill>
                  <a:schemeClr val="accent2">
                    <a:lumMod val="75000"/>
                  </a:schemeClr>
                </a:solidFill>
                <a:latin typeface="Times New Roman" panose="02020603050405020304" pitchFamily="18" charset="0"/>
                <a:cs typeface="Times New Roman" panose="02020603050405020304" pitchFamily="18" charset="0"/>
              </a:rPr>
              <a:t>A user uploads a photo of street, park, beach, or place where garbage is thrown.</a:t>
            </a:r>
            <a:endParaRPr lang="en-IN" sz="2000"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8D82676D-1619-B318-DBC3-F0DBDD4648EB}"/>
              </a:ext>
            </a:extLst>
          </p:cNvPr>
          <p:cNvSpPr txBox="1"/>
          <p:nvPr/>
        </p:nvSpPr>
        <p:spPr>
          <a:xfrm flipH="1">
            <a:off x="833567" y="1930400"/>
            <a:ext cx="8284201" cy="2369880"/>
          </a:xfrm>
          <a:prstGeom prst="rect">
            <a:avLst/>
          </a:prstGeom>
          <a:noFill/>
        </p:spPr>
        <p:txBody>
          <a:bodyPr wrap="square" rtlCol="0">
            <a:spAutoFit/>
          </a:bodyPr>
          <a:lstStyle/>
          <a:p>
            <a:r>
              <a:rPr lang="en-US" sz="2400" dirty="0">
                <a:solidFill>
                  <a:schemeClr val="accent2">
                    <a:lumMod val="50000"/>
                  </a:schemeClr>
                </a:solidFill>
                <a:latin typeface="Times New Roman" panose="02020603050405020304" pitchFamily="18" charset="0"/>
                <a:cs typeface="Times New Roman" panose="02020603050405020304" pitchFamily="18" charset="0"/>
              </a:rPr>
              <a:t>What AI does :</a:t>
            </a:r>
          </a:p>
          <a:p>
            <a:endParaRPr lang="en-US" sz="2400" dirty="0">
              <a:solidFill>
                <a:schemeClr val="accent2">
                  <a:lumMod val="50000"/>
                </a:schemeClr>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Analyzes the uploaded image.</a:t>
            </a:r>
          </a:p>
          <a:p>
            <a:pPr marL="285750" indent="-285750" algn="just">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Identifies the different types of waste.</a:t>
            </a:r>
          </a:p>
          <a:p>
            <a:pPr marL="285750" indent="-285750" algn="just">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Helps in waste segregation and recycling.</a:t>
            </a:r>
          </a:p>
          <a:p>
            <a:pPr marL="285750" indent="-285750" algn="just">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Estimates how much waste is present.</a:t>
            </a:r>
          </a:p>
          <a:p>
            <a:pPr marL="285750" indent="-285750" algn="just">
              <a:buFont typeface="Arial" panose="020B0604020202020204" pitchFamily="34" charset="0"/>
              <a:buChar char="•"/>
            </a:pPr>
            <a:r>
              <a:rPr lang="en-US" sz="2000" dirty="0">
                <a:solidFill>
                  <a:schemeClr val="accent2">
                    <a:lumMod val="75000"/>
                  </a:schemeClr>
                </a:solidFill>
                <a:latin typeface="Times New Roman" panose="02020603050405020304" pitchFamily="18" charset="0"/>
                <a:cs typeface="Times New Roman" panose="02020603050405020304" pitchFamily="18" charset="0"/>
              </a:rPr>
              <a:t>Generates a cleanliness score. </a:t>
            </a:r>
            <a:endParaRPr lang="en-IN" sz="2000" dirty="0">
              <a:solidFill>
                <a:schemeClr val="accent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3558087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78</TotalTime>
  <Words>460</Words>
  <Application>Microsoft Office PowerPoint</Application>
  <PresentationFormat>Widescreen</PresentationFormat>
  <Paragraphs>26</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Times New Roman</vt:lpstr>
      <vt:lpstr>Trebuchet MS</vt:lpstr>
      <vt:lpstr>Wingdings 3</vt:lpstr>
      <vt:lpstr>Facet</vt:lpstr>
      <vt:lpstr>     Green Skilling and Sustainability </vt:lpstr>
      <vt:lpstr>What is SDG 17 – Partnerships for the Goals ?  </vt:lpstr>
      <vt:lpstr>What is Sustainability ?</vt:lpstr>
      <vt:lpstr>PowerPoint Presentation</vt:lpstr>
      <vt:lpstr>Capstone Project :- AI Garbage Detection from images   A user uploads a photo of street, park, beach, or place where garbage is thrown.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RUCHIKA JAIN</dc:creator>
  <cp:lastModifiedBy>RUCHIKA JAIN</cp:lastModifiedBy>
  <cp:revision>8</cp:revision>
  <dcterms:created xsi:type="dcterms:W3CDTF">2026-07-12T16:32:45Z</dcterms:created>
  <dcterms:modified xsi:type="dcterms:W3CDTF">2026-07-12T17:51:38Z</dcterms:modified>
</cp:coreProperties>
</file>